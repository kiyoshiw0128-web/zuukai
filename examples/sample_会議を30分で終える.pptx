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は見本です。今日は会議を短くする方法を、図で6枚にまとめてお話しします。話すのは5分ほどです。最後に、明日からやることを3つお渡しします。まずは、今の会議がどのくらい延びているかから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今の様子です。この四角ひとつが、会議の1割です。オレンジが、予定の時間を過ぎた会議です。10個のうち7個がオレンジですね。つまり、だいたい7割の会議が延びています。ここで大事なのは、延びることが珍しくない、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、議題を先に送った会議と、送らなかった会議を比べました。左が送らなかった会議で、平均52分。右が送った会議で、平均31分です。棒の高さを見ると、半分くらいになっているのが分かります。ただし架空の数字なので、向きだけ受け取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どう進めるか。手順は4つです。左から、決めることを書く、資料を前日に送る、当日は決めることから話す、最後に誰がいつまでに何をするかを確かめる。オレンジの3つ目がいちばん効きます。最初の5分で、決めることを読み上げ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も、全部を会議にする必要はありません。左の問いから順に見ます。メールで済むなら、会議はしません。済まなくても、決める人が一人なら、その人と短く話せば足ります。どちらでもなく、みんなで決めるときだけ、30分の会議を開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変える前と後を並べます。左が今の会議で、近況の報告から始まり、決めることは最後に回ります。右が変えた後で、決めることから始めます。真ん中の矢印のとおり、変えるのは始め方だけです。中身や人数は変えなくて大丈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議題の選び方です。横が急ぎかどうか、縦が大事かどうか。右上の、急ぎで大事なものだけを会議で決めます。左上の、大事だが急がないものは、次の定例に回します。下の2つは、メールやチャットで済ませます。会議で決めるのは、右上の1マス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議には、進める人のほかに2つの役を置きます。書記は決まったことを書き、時間係は残り時間を5分ごとに伝えます。役は毎回変えて、同じ人に偏らないようにします。では、これをいつから始めるか。次で進め方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め方です。今週は自分の会議で試し、2週目にチームへ広げます。3週目に結果を見て直し、4週目から全部の定例をこの形にします。オレンジの1週目、つまり今週は、自分の会議ひとつだけで試せば十分です。では最後に、明日からやることをまと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明日からやることです。1つ目、決めることを1行で書く。2つ目、議題と資料を前日に送る。3つ目、最初の5分で決めることを読み上げる。右に、もとにしたページを書いておきました。まずは明日の会議ひとつから試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持ち帰り用の表です。1行に1つの会議を書きます。決めること、形、書記、時間係を埋めてください。空いた欄があれば、そこがまだ決まっていない所です。今日の話は以上です。会議は、決めることを先に書けば短く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694944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8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会議を30分で終える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694944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決めることを先に書けば短くなる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77639"/>
            <a:ext cx="6035040" cy="128016"/>
          </a:xfrm>
          <a:prstGeom prst="roundRect">
            <a:avLst>
              <a:gd name="adj" fmla="val 5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6766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最後に、明日からやること3つ</a:t>
            </a:r>
          </a:p>
        </p:txBody>
      </p:sp>
      <p:sp>
        <p:nvSpPr>
          <p:cNvPr id="8" name="Oval 7"/>
          <p:cNvSpPr/>
          <p:nvPr/>
        </p:nvSpPr>
        <p:spPr>
          <a:xfrm>
            <a:off x="7850124" y="2638044"/>
            <a:ext cx="1307592" cy="130759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90941" y="2778861"/>
            <a:ext cx="1025956" cy="10259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503920" y="2909620"/>
            <a:ext cx="0" cy="38222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3291840"/>
            <a:ext cx="281635" cy="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8453628" y="3241548"/>
            <a:ext cx="100584" cy="10058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83496" y="2642616"/>
            <a:ext cx="566928" cy="56692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9418320" y="3273552"/>
            <a:ext cx="1097280" cy="640080"/>
          </a:xfrm>
          <a:prstGeom prst="round2Same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olded Corner 14"/>
          <p:cNvSpPr/>
          <p:nvPr/>
        </p:nvSpPr>
        <p:spPr>
          <a:xfrm>
            <a:off x="10643616" y="2852928"/>
            <a:ext cx="658368" cy="877824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46028" y="3013862"/>
            <a:ext cx="453542" cy="43891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6028" y="3160166"/>
            <a:ext cx="453542" cy="43891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46028" y="3306470"/>
            <a:ext cx="453542" cy="43891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746028" y="3452774"/>
            <a:ext cx="292608" cy="43891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会議の7割が、時間どおりに終わっていない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08792" cy="3749039"/>
          </a:xfrm>
          <a:prstGeom prst="roundRect">
            <a:avLst>
              <a:gd name="adj" fmla="val 5853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根拠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536192"/>
            <a:ext cx="95371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先月の定例会議（架空の例）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99916" y="224028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32604" y="224028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5292" y="224028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97980" y="224028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0668" y="2240280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99916" y="3172968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32604" y="3172968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765292" y="3172968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97980" y="3172968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30668" y="3172968"/>
            <a:ext cx="7315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97096"/>
            <a:ext cx="10451592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10回のうち7回が延びた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91456"/>
            <a:ext cx="104515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1マス＝会議の1割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908792" cy="777240"/>
          </a:xfrm>
          <a:prstGeom prst="roundRect">
            <a:avLst>
              <a:gd name="adj" fmla="val 28235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49554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提案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5303520"/>
            <a:ext cx="9308592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だから、延びる前提で、決めることを先に書く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出典：架空の例（見本用の数字）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議題を先に送ると、会議は短くなる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08792" cy="3749039"/>
          </a:xfrm>
          <a:prstGeom prst="roundRect">
            <a:avLst>
              <a:gd name="adj" fmla="val 5853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55448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根拠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536192"/>
            <a:ext cx="953719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会議の平均時間（分）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7298" y="2884335"/>
            <a:ext cx="1463040" cy="1550504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2335695"/>
            <a:ext cx="312267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52分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4507992"/>
            <a:ext cx="312267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議題なし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8614" y="3510500"/>
            <a:ext cx="1463040" cy="924339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8796" y="2961860"/>
            <a:ext cx="312267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800" b="1">
                <a:solidFill>
                  <a:srgbClr val="C8743A"/>
                </a:solidFill>
                <a:latin typeface="Noto Sans JP"/>
                <a:ea typeface="Noto Sans JP"/>
                <a:cs typeface="Noto Sans JP"/>
              </a:rPr>
              <a:t>31分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8796" y="4507992"/>
            <a:ext cx="3122676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議題を前日に送る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97480" y="4434840"/>
            <a:ext cx="6793992" cy="2743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5303520"/>
            <a:ext cx="10908792" cy="777240"/>
          </a:xfrm>
          <a:prstGeom prst="roundRect">
            <a:avLst>
              <a:gd name="adj" fmla="val 28235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549554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提案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5303520"/>
            <a:ext cx="9308592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だから、議題は前日までに送る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90879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出典：架空の例（見本用の数字）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会議は4つの手順で進める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286000" cy="1188720"/>
          </a:xfrm>
          <a:prstGeom prst="roundRect">
            <a:avLst>
              <a:gd name="adj" fmla="val 1846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1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決めることを書く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22860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1行で書く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63824" y="2697479"/>
            <a:ext cx="347472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566160" y="2103120"/>
            <a:ext cx="2286000" cy="1188720"/>
          </a:xfrm>
          <a:prstGeom prst="roundRect">
            <a:avLst>
              <a:gd name="adj" fmla="val 1846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前日に送る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429000"/>
            <a:ext cx="22860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資料も一緒に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07024" y="2697479"/>
            <a:ext cx="347472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09360" y="2103120"/>
            <a:ext cx="2286000" cy="1188720"/>
          </a:xfrm>
          <a:prstGeom prst="roundRect">
            <a:avLst>
              <a:gd name="adj" fmla="val 18461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決めることから話す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429000"/>
            <a:ext cx="22860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最初の5分で読み上げ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50224" y="2697479"/>
            <a:ext cx="347472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52560" y="2103120"/>
            <a:ext cx="2286000" cy="1188720"/>
          </a:xfrm>
          <a:prstGeom prst="roundRect">
            <a:avLst>
              <a:gd name="adj" fmla="val 18461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担当と期限を確かめる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429000"/>
            <a:ext cx="228600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誰が・いつまでに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3つの問いで、会議の形を決める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91840"/>
            <a:ext cx="3017519" cy="2651759"/>
          </a:xfrm>
          <a:prstGeom prst="roundRect">
            <a:avLst>
              <a:gd name="adj" fmla="val 8275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65960" y="301752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2834639" cy="21945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メールにする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017519" cy="96012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017519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メールで</a:t>
            </a:r>
          </a:p>
          <a:p>
            <a:pPr algn="ctr"/>
            <a:r>
              <a:rPr sz="20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済む？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79" y="2423160"/>
            <a:ext cx="0" cy="576072"/>
          </a:xfrm>
          <a:prstGeom prst="line">
            <a:avLst/>
          </a:prstGeom>
          <a:ln w="28575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313432" y="2468880"/>
            <a:ext cx="731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はい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49039" y="1943100"/>
            <a:ext cx="822960" cy="0"/>
          </a:xfrm>
          <a:prstGeom prst="line">
            <a:avLst/>
          </a:prstGeom>
          <a:ln w="28575">
            <a:solidFill>
              <a:srgbClr val="6B6B6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49039" y="1531620"/>
            <a:ext cx="822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いいえ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1999" y="3291840"/>
            <a:ext cx="3017519" cy="2651759"/>
          </a:xfrm>
          <a:prstGeom prst="roundRect">
            <a:avLst>
              <a:gd name="adj" fmla="val 8275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06439" y="301752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906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3657600"/>
            <a:ext cx="2834639" cy="21945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その人と</a:t>
            </a:r>
          </a:p>
          <a:p>
            <a:pPr algn="ctr"/>
            <a:r>
              <a:rPr sz="20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短く話す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1999" y="1463040"/>
            <a:ext cx="3017519" cy="96012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1999" y="1463040"/>
            <a:ext cx="3017519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決める人は</a:t>
            </a:r>
          </a:p>
          <a:p>
            <a:pPr algn="ctr"/>
            <a:r>
              <a:rPr sz="20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一人？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59" y="2423160"/>
            <a:ext cx="0" cy="576072"/>
          </a:xfrm>
          <a:prstGeom prst="line">
            <a:avLst/>
          </a:prstGeom>
          <a:ln w="28575">
            <a:solidFill>
              <a:srgbClr val="1F3A5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53911" y="2468880"/>
            <a:ext cx="731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はい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89519" y="1943100"/>
            <a:ext cx="2331721" cy="0"/>
          </a:xfrm>
          <a:prstGeom prst="line">
            <a:avLst/>
          </a:prstGeom>
          <a:ln w="2857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21240" y="1943100"/>
            <a:ext cx="0" cy="1056132"/>
          </a:xfrm>
          <a:prstGeom prst="line">
            <a:avLst/>
          </a:prstGeom>
          <a:ln w="28575">
            <a:solidFill>
              <a:srgbClr val="6B6B6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89519" y="1531620"/>
            <a:ext cx="8229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いいえ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291840"/>
            <a:ext cx="3017519" cy="2651759"/>
          </a:xfrm>
          <a:prstGeom prst="roundRect">
            <a:avLst>
              <a:gd name="adj" fmla="val 8275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46919" y="301752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574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3657600"/>
            <a:ext cx="2834639" cy="219455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30分の</a:t>
            </a:r>
          </a:p>
          <a:p>
            <a:pPr algn="ctr"/>
            <a:r>
              <a:rPr sz="20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会議を開く</a:t>
            </a:r>
          </a:p>
        </p:txBody>
      </p:sp>
      <p:sp>
        <p:nvSpPr>
          <p:cNvPr id="26" name="Folded Corner 25"/>
          <p:cNvSpPr/>
          <p:nvPr/>
        </p:nvSpPr>
        <p:spPr>
          <a:xfrm>
            <a:off x="1993391" y="4700016"/>
            <a:ext cx="493776" cy="658368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70201" y="4820716"/>
            <a:ext cx="340156" cy="32918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70201" y="4930444"/>
            <a:ext cx="340156" cy="32918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70201" y="5040172"/>
            <a:ext cx="340156" cy="32918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70201" y="5149900"/>
            <a:ext cx="219456" cy="32918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910681" y="4785969"/>
            <a:ext cx="340156" cy="34015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5751575" y="5164531"/>
            <a:ext cx="658368" cy="384048"/>
          </a:xfrm>
          <a:prstGeom prst="round2Same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64624" y="4764024"/>
            <a:ext cx="713232" cy="713232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41433" y="4840833"/>
            <a:ext cx="559612" cy="5596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9921240" y="4912156"/>
            <a:ext cx="0" cy="208484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921240" y="5120640"/>
            <a:ext cx="153619" cy="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9893808" y="5093208"/>
            <a:ext cx="54864" cy="54864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変えるのは、始め方だけ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493361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127601" cy="548640"/>
          </a:xfrm>
          <a:prstGeom prst="roundRect">
            <a:avLst>
              <a:gd name="adj" fmla="val 40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3944721" cy="2651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・近況の報告から始める</a:t>
            </a:r>
          </a:p>
          <a:p>
            <a:pPr algn="l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・決めることは最後</a:t>
            </a:r>
          </a:p>
          <a:p>
            <a:pPr algn="l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・時間切れで持ち越し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6638" y="1463040"/>
            <a:ext cx="4493361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9518" y="1645920"/>
            <a:ext cx="4127601" cy="548640"/>
          </a:xfrm>
          <a:prstGeom prst="roundRect">
            <a:avLst>
              <a:gd name="adj" fmla="val 4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これから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0958" y="2377440"/>
            <a:ext cx="3944721" cy="2651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・決めることから始める</a:t>
            </a:r>
          </a:p>
          <a:p>
            <a:pPr algn="l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・報告は資料で読む</a:t>
            </a:r>
          </a:p>
          <a:p>
            <a:pPr algn="l"/>
            <a:r>
              <a:rPr sz="20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・残りで質問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62041" y="3291840"/>
            <a:ext cx="1437437" cy="0"/>
          </a:xfrm>
          <a:prstGeom prst="line">
            <a:avLst/>
          </a:prstGeom>
          <a:ln w="76200">
            <a:solidFill>
              <a:srgbClr val="C8743A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24881" y="2377440"/>
            <a:ext cx="1711756" cy="731520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ctr"/>
            <a:r>
              <a:rPr sz="1800" b="1">
                <a:solidFill>
                  <a:srgbClr val="C8743A"/>
                </a:solidFill>
                <a:latin typeface="Noto Sans JP"/>
                <a:ea typeface="Noto Sans JP"/>
                <a:cs typeface="Noto Sans JP"/>
              </a:rPr>
              <a:t>始め方を変える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303520"/>
            <a:ext cx="10908792" cy="777240"/>
          </a:xfrm>
          <a:prstGeom prst="roundRect">
            <a:avLst>
              <a:gd name="adj" fmla="val 28235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549554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提案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5303520"/>
            <a:ext cx="9308592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だから、最初の5分で決めることを読み上げる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急ぎで大事な議題だけ、会議で決める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1508760"/>
            <a:ext cx="4389120" cy="192024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3160" y="1508760"/>
            <a:ext cx="4389120" cy="1920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次の定例へ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508760"/>
            <a:ext cx="4389120" cy="1920240"/>
          </a:xfrm>
          <a:prstGeom prst="roundRect">
            <a:avLst>
              <a:gd name="adj" fmla="val 11428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508760"/>
            <a:ext cx="4389120" cy="1920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会議で決める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3520440"/>
            <a:ext cx="4389120" cy="192024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3520440"/>
            <a:ext cx="4389120" cy="1920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メールで済ます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3520440"/>
            <a:ext cx="4389120" cy="192024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3520440"/>
            <a:ext cx="4389120" cy="1920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チャットで済ます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1463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8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大事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4630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8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大事でない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5532120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急がない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5532120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800" b="1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急ぐ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書記と時間係を、会議ごとに決める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322320" cy="3931920"/>
          </a:xfrm>
          <a:prstGeom prst="roundRect">
            <a:avLst>
              <a:gd name="adj" fmla="val 6605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09800" y="155448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271522" y="2530602"/>
            <a:ext cx="425196" cy="42519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2072640" y="3003804"/>
            <a:ext cx="822959" cy="480059"/>
          </a:xfrm>
          <a:prstGeom prst="round2Same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3139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進める人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480560"/>
            <a:ext cx="566928" cy="43891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4480560"/>
            <a:ext cx="2407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議題を読む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9600" y="1828800"/>
            <a:ext cx="3322320" cy="3931920"/>
          </a:xfrm>
          <a:prstGeom prst="roundRect">
            <a:avLst>
              <a:gd name="adj" fmla="val 6605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6440" y="155448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9061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3" name="Folded Corner 12"/>
          <p:cNvSpPr/>
          <p:nvPr/>
        </p:nvSpPr>
        <p:spPr>
          <a:xfrm>
            <a:off x="5772149" y="2537460"/>
            <a:ext cx="617220" cy="822959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68162" y="2688336"/>
            <a:ext cx="425196" cy="41148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68162" y="2825496"/>
            <a:ext cx="425196" cy="41148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68162" y="2962656"/>
            <a:ext cx="425196" cy="41148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68162" y="3099816"/>
            <a:ext cx="274320" cy="41148"/>
          </a:xfrm>
          <a:prstGeom prst="rect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1039" y="3886200"/>
            <a:ext cx="3139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書記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02480" y="4480560"/>
            <a:ext cx="566928" cy="43891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0848" y="4480560"/>
            <a:ext cx="2407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決まったことを書く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6239" y="1828800"/>
            <a:ext cx="3322320" cy="3931920"/>
          </a:xfrm>
          <a:prstGeom prst="roundRect">
            <a:avLst>
              <a:gd name="adj" fmla="val 6605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03079" y="155448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574D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9231629" y="2503170"/>
            <a:ext cx="891540" cy="89154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27641" y="2599182"/>
            <a:ext cx="699516" cy="69951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9677399" y="2688336"/>
            <a:ext cx="0" cy="260604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77399" y="2948940"/>
            <a:ext cx="192025" cy="0"/>
          </a:xfrm>
          <a:prstGeom prst="line">
            <a:avLst/>
          </a:prstGeom>
          <a:ln w="3810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643110" y="2914650"/>
            <a:ext cx="68580" cy="6858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7679" y="3886200"/>
            <a:ext cx="3139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時間係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9119" y="4480560"/>
            <a:ext cx="566928" cy="438912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7488" y="4480560"/>
            <a:ext cx="2407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5分ごとに伝える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1か月で、全部の定例を切りかえる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255263"/>
            <a:ext cx="10515600" cy="73152"/>
          </a:xfrm>
          <a:prstGeom prst="rect">
            <a:avLst/>
          </a:prstGeom>
          <a:solidFill>
            <a:srgbClr val="C8C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40230" y="3063239"/>
            <a:ext cx="457200" cy="457200"/>
          </a:xfrm>
          <a:prstGeom prst="ellipse">
            <a:avLst/>
          </a:prstGeom>
          <a:solidFill>
            <a:srgbClr val="C87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39"/>
            <a:ext cx="24917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C8743A"/>
                </a:solidFill>
                <a:latin typeface="Noto Sans JP"/>
                <a:ea typeface="Noto Sans JP"/>
                <a:cs typeface="Noto Sans JP"/>
              </a:rPr>
              <a:t>1週目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24917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自分の会議で試す</a:t>
            </a:r>
          </a:p>
        </p:txBody>
      </p:sp>
      <p:sp>
        <p:nvSpPr>
          <p:cNvPr id="8" name="Oval 7"/>
          <p:cNvSpPr/>
          <p:nvPr/>
        </p:nvSpPr>
        <p:spPr>
          <a:xfrm>
            <a:off x="4514850" y="3063239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7580" y="2377439"/>
            <a:ext cx="24917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2週目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7580" y="3703320"/>
            <a:ext cx="24917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チームへ広げる</a:t>
            </a:r>
          </a:p>
        </p:txBody>
      </p:sp>
      <p:sp>
        <p:nvSpPr>
          <p:cNvPr id="11" name="Oval 10"/>
          <p:cNvSpPr/>
          <p:nvPr/>
        </p:nvSpPr>
        <p:spPr>
          <a:xfrm>
            <a:off x="7189470" y="3063239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377439"/>
            <a:ext cx="24917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3週目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703320"/>
            <a:ext cx="24917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結果を見て直す</a:t>
            </a:r>
          </a:p>
        </p:txBody>
      </p:sp>
      <p:sp>
        <p:nvSpPr>
          <p:cNvPr id="14" name="Oval 13"/>
          <p:cNvSpPr/>
          <p:nvPr/>
        </p:nvSpPr>
        <p:spPr>
          <a:xfrm>
            <a:off x="9864090" y="3063239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46820" y="2377439"/>
            <a:ext cx="24917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4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4週目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6820" y="3703320"/>
            <a:ext cx="24917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>全部の定例で使う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明日から、この3つをやる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402080"/>
          </a:xfrm>
          <a:prstGeom prst="roundRect">
            <a:avLst>
              <a:gd name="adj" fmla="val 15652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88976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463040"/>
            <a:ext cx="7315200" cy="771144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決めることを1行で書く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34184"/>
            <a:ext cx="7315200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会議の案内の1行目に書く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463040"/>
            <a:ext cx="2194560" cy="1402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4枚目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02280"/>
            <a:ext cx="10698480" cy="1402080"/>
          </a:xfrm>
          <a:prstGeom prst="roundRect">
            <a:avLst>
              <a:gd name="adj" fmla="val 15652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4290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002280"/>
            <a:ext cx="7315200" cy="771144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議題と資料を前日に送る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3424"/>
            <a:ext cx="7315200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当日の朝では遅い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002280"/>
            <a:ext cx="2194560" cy="1402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3枚目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41520"/>
            <a:ext cx="10698480" cy="1402080"/>
          </a:xfrm>
          <a:prstGeom prst="roundRect">
            <a:avLst>
              <a:gd name="adj" fmla="val 15652"/>
            </a:avLst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496824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541520"/>
            <a:ext cx="7315200" cy="771144"/>
          </a:xfrm>
          <a:prstGeom prst="rect">
            <a:avLst/>
          </a:prstGeom>
          <a:noFill/>
        </p:spPr>
        <p:txBody>
          <a:bodyPr wrap="square" lIns="36576" rIns="36576" tIns="36576" bIns="36576" anchor="b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最初の5分で読み上げる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312664"/>
            <a:ext cx="7315200" cy="6309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報告は資料で読んでもらう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541520"/>
            <a:ext cx="2194560" cy="1402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800" b="0">
                <a:solidFill>
                  <a:srgbClr val="6B6B6B"/>
                </a:solidFill>
                <a:latin typeface="Noto Sans JP"/>
                <a:ea typeface="Noto Sans JP"/>
                <a:cs typeface="Noto Sans JP"/>
              </a:rPr>
              <a:t>6枚目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600" b="1">
                <a:solidFill>
                  <a:srgbClr val="1F3A5F"/>
                </a:solidFill>
                <a:latin typeface="Noto Sans JP"/>
                <a:ea typeface="Noto Sans JP"/>
                <a:cs typeface="Noto Sans JP"/>
              </a:rPr>
              <a:t>自分の会議を、この表に書き出す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63040"/>
            <a:ext cx="2081934" cy="640080"/>
          </a:xfrm>
          <a:prstGeom prst="roundRect">
            <a:avLst>
              <a:gd name="adj" fmla="val 34285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会議の名前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68318" y="1463040"/>
            <a:ext cx="4200445" cy="640080"/>
          </a:xfrm>
          <a:prstGeom prst="roundRect">
            <a:avLst>
              <a:gd name="adj" fmla="val 34285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決めること（1行）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05340" y="1463040"/>
            <a:ext cx="1552307" cy="640080"/>
          </a:xfrm>
          <a:prstGeom prst="roundRect">
            <a:avLst>
              <a:gd name="adj" fmla="val 34285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94223" y="1463040"/>
            <a:ext cx="1340456" cy="640080"/>
          </a:xfrm>
          <a:prstGeom prst="roundRect">
            <a:avLst>
              <a:gd name="adj" fmla="val 34285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書記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71255" y="1463040"/>
            <a:ext cx="1340456" cy="640080"/>
          </a:xfrm>
          <a:prstGeom prst="roundRect">
            <a:avLst>
              <a:gd name="adj" fmla="val 34285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時間係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2103120"/>
            <a:ext cx="2081934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2081934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2868318" y="2103120"/>
            <a:ext cx="4200445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8318" y="2103120"/>
            <a:ext cx="4200445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7105340" y="2103120"/>
            <a:ext cx="1552307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5340" y="2103120"/>
            <a:ext cx="1552307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8694223" y="2103120"/>
            <a:ext cx="1340456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4223" y="2103120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0071255" y="2103120"/>
            <a:ext cx="1340456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1255" y="2103120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2743200"/>
            <a:ext cx="2081934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2743200"/>
            <a:ext cx="2081934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2868318" y="2743200"/>
            <a:ext cx="4200445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8318" y="2743200"/>
            <a:ext cx="4200445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7105340" y="2743200"/>
            <a:ext cx="1552307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5340" y="2743200"/>
            <a:ext cx="1552307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8694223" y="2743200"/>
            <a:ext cx="1340456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94223" y="2743200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0071255" y="2743200"/>
            <a:ext cx="1340456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1255" y="2743200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383279"/>
            <a:ext cx="2081934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383279"/>
            <a:ext cx="2081934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2868318" y="3383279"/>
            <a:ext cx="4200445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8318" y="3383279"/>
            <a:ext cx="4200445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7105340" y="3383279"/>
            <a:ext cx="1552307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05340" y="3383279"/>
            <a:ext cx="1552307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8694223" y="3383279"/>
            <a:ext cx="1340456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4223" y="3383279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7" name="Rectangle 36"/>
          <p:cNvSpPr/>
          <p:nvPr/>
        </p:nvSpPr>
        <p:spPr>
          <a:xfrm>
            <a:off x="10071255" y="3383279"/>
            <a:ext cx="1340456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1255" y="3383279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749808" y="4023360"/>
            <a:ext cx="2081934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4023360"/>
            <a:ext cx="2081934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2868318" y="4023360"/>
            <a:ext cx="4200445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68318" y="4023360"/>
            <a:ext cx="4200445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43" name="Rectangle 42"/>
          <p:cNvSpPr/>
          <p:nvPr/>
        </p:nvSpPr>
        <p:spPr>
          <a:xfrm>
            <a:off x="7105340" y="4023360"/>
            <a:ext cx="1552307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05340" y="4023360"/>
            <a:ext cx="1552307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8694223" y="4023360"/>
            <a:ext cx="1340456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94223" y="4023360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10071255" y="4023360"/>
            <a:ext cx="1340456" cy="603503"/>
          </a:xfrm>
          <a:prstGeom prst="rect">
            <a:avLst/>
          </a:prstGeom>
          <a:solidFill>
            <a:srgbClr val="E6EBF1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71255" y="4023360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" y="4663440"/>
            <a:ext cx="2081934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4663440"/>
            <a:ext cx="2081934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2868318" y="4663440"/>
            <a:ext cx="4200445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68318" y="4663440"/>
            <a:ext cx="4200445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3" name="Rectangle 52"/>
          <p:cNvSpPr/>
          <p:nvPr/>
        </p:nvSpPr>
        <p:spPr>
          <a:xfrm>
            <a:off x="7105340" y="4663440"/>
            <a:ext cx="1552307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05340" y="4663440"/>
            <a:ext cx="1552307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8694223" y="4663440"/>
            <a:ext cx="1340456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94223" y="4663440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10071255" y="4663440"/>
            <a:ext cx="1340456" cy="603503"/>
          </a:xfrm>
          <a:prstGeom prst="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71255" y="4663440"/>
            <a:ext cx="1340456" cy="603503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800" b="0">
                <a:solidFill>
                  <a:srgbClr val="262626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